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4630400" cy="8229600"/>
  <p:notesSz cx="8229600" cy="14630400"/>
  <p:embeddedFontLst>
    <p:embeddedFont>
      <p:font typeface="Manrope" panose="020B0604020202020204" charset="0"/>
      <p:regular r:id="rId8"/>
    </p:embeddedFont>
    <p:embeddedFont>
      <p:font typeface="Prata" panose="020B0604020202020204" charset="0"/>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5013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txBody>
          <a:bodyPr/>
          <a:lstStyle/>
          <a:p>
            <a:endParaRPr lang="en-IN"/>
          </a:p>
        </p:txBody>
      </p:sp>
      <p:sp>
        <p:nvSpPr>
          <p:cNvPr id="3" name="Shape 1"/>
          <p:cNvSpPr/>
          <p:nvPr/>
        </p:nvSpPr>
        <p:spPr>
          <a:xfrm>
            <a:off x="0" y="0"/>
            <a:ext cx="14630400" cy="8229600"/>
          </a:xfrm>
          <a:prstGeom prst="rect">
            <a:avLst/>
          </a:prstGeom>
          <a:solidFill>
            <a:srgbClr val="21232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txBody>
          <a:bodyPr/>
          <a:lstStyle/>
          <a:p>
            <a:endParaRPr lang="en-IN"/>
          </a:p>
        </p:txBody>
      </p:sp>
      <p:sp>
        <p:nvSpPr>
          <p:cNvPr id="3" name="Shape 1"/>
          <p:cNvSpPr/>
          <p:nvPr/>
        </p:nvSpPr>
        <p:spPr>
          <a:xfrm>
            <a:off x="0" y="0"/>
            <a:ext cx="14630400" cy="8229600"/>
          </a:xfrm>
          <a:prstGeom prst="rect">
            <a:avLst/>
          </a:prstGeom>
          <a:solidFill>
            <a:srgbClr val="21232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txBody>
          <a:bodyPr/>
          <a:lstStyle/>
          <a:p>
            <a:endParaRPr lang="en-IN"/>
          </a:p>
        </p:txBody>
      </p:sp>
      <p:sp>
        <p:nvSpPr>
          <p:cNvPr id="3" name="Shape 1"/>
          <p:cNvSpPr/>
          <p:nvPr/>
        </p:nvSpPr>
        <p:spPr>
          <a:xfrm>
            <a:off x="0" y="0"/>
            <a:ext cx="14630400" cy="8229600"/>
          </a:xfrm>
          <a:prstGeom prst="rect">
            <a:avLst/>
          </a:prstGeom>
          <a:solidFill>
            <a:srgbClr val="21232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txBody>
          <a:bodyPr/>
          <a:lstStyle/>
          <a:p>
            <a:endParaRPr lang="en-IN"/>
          </a:p>
        </p:txBody>
      </p:sp>
      <p:sp>
        <p:nvSpPr>
          <p:cNvPr id="3" name="Shape 1"/>
          <p:cNvSpPr/>
          <p:nvPr/>
        </p:nvSpPr>
        <p:spPr>
          <a:xfrm>
            <a:off x="0" y="0"/>
            <a:ext cx="14630400" cy="8229600"/>
          </a:xfrm>
          <a:prstGeom prst="rect">
            <a:avLst/>
          </a:prstGeom>
          <a:solidFill>
            <a:srgbClr val="212326"/>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EY-hackthon12/seamless-retail/"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2" name="Text 0"/>
          <p:cNvSpPr/>
          <p:nvPr/>
        </p:nvSpPr>
        <p:spPr>
          <a:xfrm>
            <a:off x="793790" y="1485305"/>
            <a:ext cx="7114103" cy="620078"/>
          </a:xfrm>
          <a:prstGeom prst="rect">
            <a:avLst/>
          </a:prstGeom>
          <a:noFill/>
          <a:ln/>
        </p:spPr>
        <p:txBody>
          <a:bodyPr wrap="none" lIns="0" tIns="0" rIns="0" bIns="0" rtlCol="0" anchor="t"/>
          <a:lstStyle/>
          <a:p>
            <a:pPr marL="0" indent="0" algn="l">
              <a:lnSpc>
                <a:spcPts val="4850"/>
              </a:lnSpc>
              <a:buNone/>
            </a:pPr>
            <a:r>
              <a:rPr lang="en-US" sz="3900" dirty="0">
                <a:solidFill>
                  <a:srgbClr val="F2D4BA"/>
                </a:solidFill>
                <a:latin typeface="Prata" pitchFamily="34" charset="0"/>
                <a:ea typeface="Prata" pitchFamily="34" charset="-122"/>
                <a:cs typeface="Prata" pitchFamily="34" charset="-120"/>
              </a:rPr>
              <a:t>Agentic AI for Seamless Retail</a:t>
            </a:r>
            <a:endParaRPr lang="en-US" sz="3900" dirty="0"/>
          </a:p>
        </p:txBody>
      </p:sp>
      <p:sp>
        <p:nvSpPr>
          <p:cNvPr id="3" name="Text 1"/>
          <p:cNvSpPr/>
          <p:nvPr/>
        </p:nvSpPr>
        <p:spPr>
          <a:xfrm>
            <a:off x="793790" y="2502218"/>
            <a:ext cx="13042821" cy="396954"/>
          </a:xfrm>
          <a:prstGeom prst="rect">
            <a:avLst/>
          </a:prstGeom>
          <a:noFill/>
          <a:ln/>
        </p:spPr>
        <p:txBody>
          <a:bodyPr wrap="none" lIns="0" tIns="0" rIns="0" bIns="0" rtlCol="0" anchor="t"/>
          <a:lstStyle/>
          <a:p>
            <a:pPr marL="0" indent="0" algn="l">
              <a:lnSpc>
                <a:spcPts val="3100"/>
              </a:lnSpc>
              <a:buNone/>
            </a:pPr>
            <a:r>
              <a:rPr lang="en-US" sz="1950" b="1" dirty="0">
                <a:solidFill>
                  <a:srgbClr val="BDA189"/>
                </a:solidFill>
                <a:latin typeface="Manrope" pitchFamily="34" charset="0"/>
                <a:ea typeface="Manrope" pitchFamily="34" charset="-122"/>
                <a:cs typeface="Manrope" pitchFamily="34" charset="-120"/>
              </a:rPr>
              <a:t>A Multi-Agent Solution for True Omnichannel Experience</a:t>
            </a:r>
            <a:endParaRPr lang="en-US" sz="1950" dirty="0"/>
          </a:p>
        </p:txBody>
      </p:sp>
      <p:sp>
        <p:nvSpPr>
          <p:cNvPr id="4" name="Text 2"/>
          <p:cNvSpPr/>
          <p:nvPr/>
        </p:nvSpPr>
        <p:spPr>
          <a:xfrm>
            <a:off x="793790" y="3122414"/>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Today's retail landscape faces a critical challenge: customer conversations remain fragmented across channels. A shopper browsing on their mobile app, browsing on their laptop, or walking into a physical store experiences disconnected interactions—each touchpoint starting from scratch, forcing customers to repeat themselves, leading to frustration and abandoned transactions.</a:t>
            </a:r>
            <a:endParaRPr lang="en-US" sz="1550" dirty="0"/>
          </a:p>
        </p:txBody>
      </p:sp>
      <p:sp>
        <p:nvSpPr>
          <p:cNvPr id="5" name="Text 3"/>
          <p:cNvSpPr/>
          <p:nvPr/>
        </p:nvSpPr>
        <p:spPr>
          <a:xfrm>
            <a:off x="793790" y="4298275"/>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BDA189"/>
                </a:solidFill>
                <a:latin typeface="Manrope" pitchFamily="34" charset="0"/>
                <a:ea typeface="Manrope" pitchFamily="34" charset="-122"/>
                <a:cs typeface="Manrope" pitchFamily="34" charset="-120"/>
              </a:rPr>
              <a:t>Our solution transforms this fragmented reality into a unified, intelligent retail experience. We've engineered a collaborative team of AI agents that share persistent memory across all customer touchpoints. Whether a customer is at home on their mobile app, browsing on web, or standing at an in-store kiosk, they experience one continuous conversation with a system that understands their complete context, preferences, and history.</a:t>
            </a:r>
            <a:endParaRPr lang="en-US" sz="1550" dirty="0"/>
          </a:p>
        </p:txBody>
      </p:sp>
      <p:sp>
        <p:nvSpPr>
          <p:cNvPr id="6" name="Text 4"/>
          <p:cNvSpPr/>
          <p:nvPr/>
        </p:nvSpPr>
        <p:spPr>
          <a:xfrm>
            <a:off x="793790" y="5791676"/>
            <a:ext cx="13042821" cy="952619"/>
          </a:xfrm>
          <a:prstGeom prst="rect">
            <a:avLst/>
          </a:prstGeom>
          <a:noFill/>
          <a:ln/>
        </p:spPr>
        <p:txBody>
          <a:bodyPr wrap="square" lIns="0" tIns="0" rIns="0" bIns="0" rtlCol="0" anchor="t"/>
          <a:lstStyle/>
          <a:p>
            <a:pPr marL="0" indent="0" algn="l">
              <a:lnSpc>
                <a:spcPts val="2500"/>
              </a:lnSpc>
              <a:buNone/>
            </a:pPr>
            <a:r>
              <a:rPr lang="en-US" sz="1550" b="1" dirty="0">
                <a:solidFill>
                  <a:srgbClr val="151617"/>
                </a:solidFill>
                <a:latin typeface="Manrope" pitchFamily="34" charset="0"/>
                <a:ea typeface="Manrope" pitchFamily="34" charset="-122"/>
                <a:cs typeface="Manrope" pitchFamily="34" charset="-120"/>
              </a:rPr>
              <a:t>Built on enterprise-grade technology</a:t>
            </a:r>
            <a:r>
              <a:rPr lang="en-US" sz="1550" dirty="0">
                <a:solidFill>
                  <a:srgbClr val="BDA189"/>
                </a:solidFill>
                <a:latin typeface="Manrope" pitchFamily="34" charset="0"/>
                <a:ea typeface="Manrope" pitchFamily="34" charset="-122"/>
                <a:cs typeface="Manrope" pitchFamily="34" charset="-120"/>
              </a:rPr>
              <a:t>: FastAPI for robust backend infrastructure, LangGraph for intelligent agent orchestration, PostgreSQL for reliable persistent memory, and a strategic blend of OpenAI's advanced models with specialized local Hugging Face models for cost-effective, domain-specific intelligence.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37830" y="656987"/>
            <a:ext cx="10494407" cy="576382"/>
          </a:xfrm>
          <a:prstGeom prst="rect">
            <a:avLst/>
          </a:prstGeom>
          <a:noFill/>
          <a:ln/>
        </p:spPr>
        <p:txBody>
          <a:bodyPr wrap="none" lIns="0" tIns="0" rIns="0" bIns="0" rtlCol="0" anchor="t"/>
          <a:lstStyle/>
          <a:p>
            <a:pPr marL="0" indent="0" algn="l">
              <a:lnSpc>
                <a:spcPts val="4500"/>
              </a:lnSpc>
              <a:buNone/>
            </a:pPr>
            <a:r>
              <a:rPr lang="en-US" sz="3600" dirty="0">
                <a:solidFill>
                  <a:srgbClr val="F2D4BA"/>
                </a:solidFill>
                <a:latin typeface="Prata" pitchFamily="34" charset="0"/>
                <a:ea typeface="Prata" pitchFamily="34" charset="-122"/>
                <a:cs typeface="Prata" pitchFamily="34" charset="-120"/>
              </a:rPr>
              <a:t>System Architecture: The Cognitive Retail Brain</a:t>
            </a:r>
            <a:endParaRPr lang="en-US" sz="3600" dirty="0"/>
          </a:p>
        </p:txBody>
      </p:sp>
      <p:sp>
        <p:nvSpPr>
          <p:cNvPr id="3" name="Text 1"/>
          <p:cNvSpPr/>
          <p:nvPr/>
        </p:nvSpPr>
        <p:spPr>
          <a:xfrm>
            <a:off x="737830" y="1602224"/>
            <a:ext cx="13154739" cy="590074"/>
          </a:xfrm>
          <a:prstGeom prst="rect">
            <a:avLst/>
          </a:prstGeom>
          <a:noFill/>
          <a:ln/>
        </p:spPr>
        <p:txBody>
          <a:bodyPr wrap="square" lIns="0" tIns="0" rIns="0" bIns="0" rtlCol="0" anchor="t"/>
          <a:lstStyle/>
          <a:p>
            <a:pPr marL="0" indent="0" algn="l">
              <a:lnSpc>
                <a:spcPts val="2300"/>
              </a:lnSpc>
              <a:buNone/>
            </a:pPr>
            <a:r>
              <a:rPr lang="en-US" sz="1450" dirty="0">
                <a:solidFill>
                  <a:srgbClr val="BDA189"/>
                </a:solidFill>
                <a:latin typeface="Manrope" pitchFamily="34" charset="0"/>
                <a:ea typeface="Manrope" pitchFamily="34" charset="-122"/>
                <a:cs typeface="Manrope" pitchFamily="34" charset="-120"/>
              </a:rPr>
              <a:t>Our architecture represents a fundamental shift in how retail systems think. Instead of isolated transaction processors, we've designed a collaborative intelligence platform where specialized agents work together, sharing a unified understanding of each customer and their journey.</a:t>
            </a:r>
            <a:endParaRPr lang="en-US" sz="1450" dirty="0"/>
          </a:p>
        </p:txBody>
      </p:sp>
      <p:sp>
        <p:nvSpPr>
          <p:cNvPr id="4" name="Shape 2"/>
          <p:cNvSpPr/>
          <p:nvPr/>
        </p:nvSpPr>
        <p:spPr>
          <a:xfrm>
            <a:off x="737830" y="2399824"/>
            <a:ext cx="6485096" cy="1947862"/>
          </a:xfrm>
          <a:prstGeom prst="roundRect">
            <a:avLst>
              <a:gd name="adj" fmla="val 1421"/>
            </a:avLst>
          </a:prstGeom>
          <a:solidFill>
            <a:srgbClr val="404245"/>
          </a:solidFill>
          <a:ln/>
        </p:spPr>
        <p:txBody>
          <a:bodyPr/>
          <a:lstStyle/>
          <a:p>
            <a:endParaRPr lang="en-IN"/>
          </a:p>
        </p:txBody>
      </p:sp>
      <p:sp>
        <p:nvSpPr>
          <p:cNvPr id="5" name="Text 3"/>
          <p:cNvSpPr/>
          <p:nvPr/>
        </p:nvSpPr>
        <p:spPr>
          <a:xfrm>
            <a:off x="922258" y="2584252"/>
            <a:ext cx="2866430" cy="288250"/>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Prata" pitchFamily="34" charset="0"/>
                <a:ea typeface="Prata" pitchFamily="34" charset="-122"/>
                <a:cs typeface="Prata" pitchFamily="34" charset="-120"/>
              </a:rPr>
              <a:t>Omnichannel Input Layer</a:t>
            </a:r>
            <a:endParaRPr lang="en-US" sz="1800" dirty="0"/>
          </a:p>
        </p:txBody>
      </p:sp>
      <p:sp>
        <p:nvSpPr>
          <p:cNvPr id="6" name="Text 4"/>
          <p:cNvSpPr/>
          <p:nvPr/>
        </p:nvSpPr>
        <p:spPr>
          <a:xfrm>
            <a:off x="922258" y="2983111"/>
            <a:ext cx="6116241" cy="1180148"/>
          </a:xfrm>
          <a:prstGeom prst="rect">
            <a:avLst/>
          </a:prstGeom>
          <a:noFill/>
          <a:ln/>
        </p:spPr>
        <p:txBody>
          <a:bodyPr wrap="square" lIns="0" tIns="0" rIns="0" bIns="0" rtlCol="0" anchor="t"/>
          <a:lstStyle/>
          <a:p>
            <a:pPr marL="0" indent="0" algn="l">
              <a:lnSpc>
                <a:spcPts val="2300"/>
              </a:lnSpc>
              <a:buNone/>
            </a:pPr>
            <a:r>
              <a:rPr lang="en-US" sz="1450" dirty="0">
                <a:solidFill>
                  <a:srgbClr val="FFFFFF"/>
                </a:solidFill>
                <a:latin typeface="Manrope" pitchFamily="34" charset="0"/>
                <a:ea typeface="Manrope" pitchFamily="34" charset="-122"/>
                <a:cs typeface="Manrope" pitchFamily="34" charset="-120"/>
              </a:rPr>
              <a:t>All customer interactions—whether initiated on mobile apps, web platforms, or physical kiosks—are seamlessly routed through a unified entry point, ensuring consistent context and personalization regardless of channel.</a:t>
            </a:r>
            <a:endParaRPr lang="en-US" sz="1450" dirty="0"/>
          </a:p>
        </p:txBody>
      </p:sp>
      <p:sp>
        <p:nvSpPr>
          <p:cNvPr id="7" name="Shape 5"/>
          <p:cNvSpPr/>
          <p:nvPr/>
        </p:nvSpPr>
        <p:spPr>
          <a:xfrm>
            <a:off x="7407354" y="2399824"/>
            <a:ext cx="6485215" cy="1947862"/>
          </a:xfrm>
          <a:prstGeom prst="roundRect">
            <a:avLst>
              <a:gd name="adj" fmla="val 1421"/>
            </a:avLst>
          </a:prstGeom>
          <a:solidFill>
            <a:srgbClr val="404245"/>
          </a:solidFill>
          <a:ln/>
        </p:spPr>
        <p:txBody>
          <a:bodyPr/>
          <a:lstStyle/>
          <a:p>
            <a:endParaRPr lang="en-IN"/>
          </a:p>
        </p:txBody>
      </p:sp>
      <p:sp>
        <p:nvSpPr>
          <p:cNvPr id="8" name="Text 6"/>
          <p:cNvSpPr/>
          <p:nvPr/>
        </p:nvSpPr>
        <p:spPr>
          <a:xfrm>
            <a:off x="7591782" y="2584252"/>
            <a:ext cx="2790825" cy="288250"/>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Prata" pitchFamily="34" charset="0"/>
                <a:ea typeface="Prata" pitchFamily="34" charset="-122"/>
                <a:cs typeface="Prata" pitchFamily="34" charset="-120"/>
              </a:rPr>
              <a:t>Intelligent Core (FastAPI)</a:t>
            </a:r>
            <a:endParaRPr lang="en-US" sz="1800" dirty="0"/>
          </a:p>
        </p:txBody>
      </p:sp>
      <p:sp>
        <p:nvSpPr>
          <p:cNvPr id="9" name="Text 7"/>
          <p:cNvSpPr/>
          <p:nvPr/>
        </p:nvSpPr>
        <p:spPr>
          <a:xfrm>
            <a:off x="7591782" y="2983111"/>
            <a:ext cx="6116360" cy="1180148"/>
          </a:xfrm>
          <a:prstGeom prst="rect">
            <a:avLst/>
          </a:prstGeom>
          <a:noFill/>
          <a:ln/>
        </p:spPr>
        <p:txBody>
          <a:bodyPr wrap="square" lIns="0" tIns="0" rIns="0" bIns="0" rtlCol="0" anchor="t"/>
          <a:lstStyle/>
          <a:p>
            <a:pPr marL="0" indent="0" algn="l">
              <a:lnSpc>
                <a:spcPts val="2300"/>
              </a:lnSpc>
              <a:buNone/>
            </a:pPr>
            <a:r>
              <a:rPr lang="en-US" sz="1450" dirty="0">
                <a:solidFill>
                  <a:srgbClr val="FFFFFF"/>
                </a:solidFill>
                <a:latin typeface="Manrope" pitchFamily="34" charset="0"/>
                <a:ea typeface="Manrope" pitchFamily="34" charset="-122"/>
                <a:cs typeface="Manrope" pitchFamily="34" charset="-120"/>
              </a:rPr>
              <a:t>Our Sales Agent, powered by OpenAI's advanced reasoning, acts as a strategic router and conversation manager. It orchestrates specialized Worker Agents, maintains conversation flow, and ensures every customer interaction feels natural and purposeful.</a:t>
            </a:r>
            <a:endParaRPr lang="en-US" sz="1450" dirty="0"/>
          </a:p>
        </p:txBody>
      </p:sp>
      <p:sp>
        <p:nvSpPr>
          <p:cNvPr id="10" name="Shape 8"/>
          <p:cNvSpPr/>
          <p:nvPr/>
        </p:nvSpPr>
        <p:spPr>
          <a:xfrm>
            <a:off x="737830" y="4532114"/>
            <a:ext cx="6485096" cy="1947862"/>
          </a:xfrm>
          <a:prstGeom prst="roundRect">
            <a:avLst>
              <a:gd name="adj" fmla="val 1421"/>
            </a:avLst>
          </a:prstGeom>
          <a:solidFill>
            <a:srgbClr val="404245"/>
          </a:solidFill>
          <a:ln/>
        </p:spPr>
        <p:txBody>
          <a:bodyPr/>
          <a:lstStyle/>
          <a:p>
            <a:endParaRPr lang="en-IN"/>
          </a:p>
        </p:txBody>
      </p:sp>
      <p:sp>
        <p:nvSpPr>
          <p:cNvPr id="11" name="Text 9"/>
          <p:cNvSpPr/>
          <p:nvPr/>
        </p:nvSpPr>
        <p:spPr>
          <a:xfrm>
            <a:off x="922258" y="4716542"/>
            <a:ext cx="2877264" cy="288250"/>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Prata" pitchFamily="34" charset="0"/>
                <a:ea typeface="Prata" pitchFamily="34" charset="-122"/>
                <a:cs typeface="Prata" pitchFamily="34" charset="-120"/>
              </a:rPr>
              <a:t>LangGraph Orchestration</a:t>
            </a:r>
            <a:endParaRPr lang="en-US" sz="1800" dirty="0"/>
          </a:p>
        </p:txBody>
      </p:sp>
      <p:sp>
        <p:nvSpPr>
          <p:cNvPr id="12" name="Text 10"/>
          <p:cNvSpPr/>
          <p:nvPr/>
        </p:nvSpPr>
        <p:spPr>
          <a:xfrm>
            <a:off x="922258" y="5115401"/>
            <a:ext cx="6116241" cy="1180148"/>
          </a:xfrm>
          <a:prstGeom prst="rect">
            <a:avLst/>
          </a:prstGeom>
          <a:noFill/>
          <a:ln/>
        </p:spPr>
        <p:txBody>
          <a:bodyPr wrap="square" lIns="0" tIns="0" rIns="0" bIns="0" rtlCol="0" anchor="t"/>
          <a:lstStyle/>
          <a:p>
            <a:pPr marL="0" indent="0" algn="l">
              <a:lnSpc>
                <a:spcPts val="2300"/>
              </a:lnSpc>
              <a:buNone/>
            </a:pPr>
            <a:r>
              <a:rPr lang="en-US" sz="1450" dirty="0">
                <a:solidFill>
                  <a:srgbClr val="FFFFFF"/>
                </a:solidFill>
                <a:latin typeface="Manrope" pitchFamily="34" charset="0"/>
                <a:ea typeface="Manrope" pitchFamily="34" charset="-122"/>
                <a:cs typeface="Manrope" pitchFamily="34" charset="-120"/>
              </a:rPr>
              <a:t>This framework enables agents to collaborate dynamically. Worker Agents can invoke each other, share context, and make complex decisions together—mimicking how human retail teams coordinate to serve customers better.</a:t>
            </a:r>
            <a:endParaRPr lang="en-US" sz="1450" dirty="0"/>
          </a:p>
        </p:txBody>
      </p:sp>
      <p:sp>
        <p:nvSpPr>
          <p:cNvPr id="13" name="Shape 11"/>
          <p:cNvSpPr/>
          <p:nvPr/>
        </p:nvSpPr>
        <p:spPr>
          <a:xfrm>
            <a:off x="7407354" y="4532114"/>
            <a:ext cx="6485215" cy="1947862"/>
          </a:xfrm>
          <a:prstGeom prst="roundRect">
            <a:avLst>
              <a:gd name="adj" fmla="val 1421"/>
            </a:avLst>
          </a:prstGeom>
          <a:solidFill>
            <a:srgbClr val="404245"/>
          </a:solidFill>
          <a:ln/>
        </p:spPr>
        <p:txBody>
          <a:bodyPr/>
          <a:lstStyle/>
          <a:p>
            <a:endParaRPr lang="en-IN"/>
          </a:p>
        </p:txBody>
      </p:sp>
      <p:sp>
        <p:nvSpPr>
          <p:cNvPr id="14" name="Text 12"/>
          <p:cNvSpPr/>
          <p:nvPr/>
        </p:nvSpPr>
        <p:spPr>
          <a:xfrm>
            <a:off x="7591782" y="4716542"/>
            <a:ext cx="2784753" cy="288250"/>
          </a:xfrm>
          <a:prstGeom prst="rect">
            <a:avLst/>
          </a:prstGeom>
          <a:noFill/>
          <a:ln/>
        </p:spPr>
        <p:txBody>
          <a:bodyPr wrap="none" lIns="0" tIns="0" rIns="0" bIns="0" rtlCol="0" anchor="t"/>
          <a:lstStyle/>
          <a:p>
            <a:pPr marL="0" indent="0" algn="l">
              <a:lnSpc>
                <a:spcPts val="2250"/>
              </a:lnSpc>
              <a:buNone/>
            </a:pPr>
            <a:r>
              <a:rPr lang="en-US" sz="1800" dirty="0">
                <a:solidFill>
                  <a:srgbClr val="FFFFFF"/>
                </a:solidFill>
                <a:latin typeface="Prata" pitchFamily="34" charset="0"/>
                <a:ea typeface="Prata" pitchFamily="34" charset="-122"/>
                <a:cs typeface="Prata" pitchFamily="34" charset="-120"/>
              </a:rPr>
              <a:t>Persistent Memory Layer</a:t>
            </a:r>
            <a:endParaRPr lang="en-US" sz="1800" dirty="0"/>
          </a:p>
        </p:txBody>
      </p:sp>
      <p:sp>
        <p:nvSpPr>
          <p:cNvPr id="15" name="Text 13"/>
          <p:cNvSpPr/>
          <p:nvPr/>
        </p:nvSpPr>
        <p:spPr>
          <a:xfrm>
            <a:off x="7591782" y="5115401"/>
            <a:ext cx="6116360" cy="1180148"/>
          </a:xfrm>
          <a:prstGeom prst="rect">
            <a:avLst/>
          </a:prstGeom>
          <a:noFill/>
          <a:ln/>
        </p:spPr>
        <p:txBody>
          <a:bodyPr wrap="square" lIns="0" tIns="0" rIns="0" bIns="0" rtlCol="0" anchor="t"/>
          <a:lstStyle/>
          <a:p>
            <a:pPr marL="0" indent="0" algn="l">
              <a:lnSpc>
                <a:spcPts val="2300"/>
              </a:lnSpc>
              <a:buNone/>
            </a:pPr>
            <a:r>
              <a:rPr lang="en-US" sz="1450" dirty="0">
                <a:solidFill>
                  <a:srgbClr val="FFFFFF"/>
                </a:solidFill>
                <a:latin typeface="Manrope" pitchFamily="34" charset="0"/>
                <a:ea typeface="Manrope" pitchFamily="34" charset="-122"/>
                <a:cs typeface="Manrope" pitchFamily="34" charset="-120"/>
              </a:rPr>
              <a:t>PostgreSQL serves as our unified source of truth, storing complete session data, cart contents, conversation history, customer preferences, and behavioral patterns. This ensures every agent has access to the full context needed for intelligent decisions.</a:t>
            </a:r>
            <a:endParaRPr lang="en-US" sz="1450" dirty="0"/>
          </a:p>
        </p:txBody>
      </p:sp>
      <p:sp>
        <p:nvSpPr>
          <p:cNvPr id="16" name="Text 14"/>
          <p:cNvSpPr/>
          <p:nvPr/>
        </p:nvSpPr>
        <p:spPr>
          <a:xfrm>
            <a:off x="737830" y="6687503"/>
            <a:ext cx="13154739" cy="885111"/>
          </a:xfrm>
          <a:prstGeom prst="rect">
            <a:avLst/>
          </a:prstGeom>
          <a:noFill/>
          <a:ln/>
        </p:spPr>
        <p:txBody>
          <a:bodyPr wrap="square" lIns="0" tIns="0" rIns="0" bIns="0" rtlCol="0" anchor="t"/>
          <a:lstStyle/>
          <a:p>
            <a:pPr marL="0" indent="0" algn="l">
              <a:lnSpc>
                <a:spcPts val="2300"/>
              </a:lnSpc>
              <a:buNone/>
            </a:pPr>
            <a:r>
              <a:rPr lang="en-US" sz="1450" b="1" dirty="0">
                <a:solidFill>
                  <a:srgbClr val="BDA189"/>
                </a:solidFill>
                <a:latin typeface="Manrope" pitchFamily="34" charset="0"/>
                <a:ea typeface="Manrope" pitchFamily="34" charset="-122"/>
                <a:cs typeface="Manrope" pitchFamily="34" charset="-120"/>
              </a:rPr>
              <a:t>Specialized Worker Agents</a:t>
            </a:r>
            <a:r>
              <a:rPr lang="en-US" sz="1450" dirty="0">
                <a:solidFill>
                  <a:srgbClr val="BDA189"/>
                </a:solidFill>
                <a:latin typeface="Manrope" pitchFamily="34" charset="0"/>
                <a:ea typeface="Manrope" pitchFamily="34" charset="-122"/>
                <a:cs typeface="Manrope" pitchFamily="34" charset="-120"/>
              </a:rPr>
              <a:t> handle distinct functions: Recommendation Engine (Hugging Face) analyzes preferences and product fit, Inventory Agent ensures real-time stock visibility, Payment Processor handles secure transactions, Fulfillment Coordinator manages logistics, Loyalty Manager optimizes customer retention, and Post-Purchase Agent drives engagement and repeat business.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677585" y="484584"/>
            <a:ext cx="9323546" cy="529352"/>
          </a:xfrm>
          <a:prstGeom prst="rect">
            <a:avLst/>
          </a:prstGeom>
          <a:noFill/>
          <a:ln/>
        </p:spPr>
        <p:txBody>
          <a:bodyPr wrap="none" lIns="0" tIns="0" rIns="0" bIns="0" rtlCol="0" anchor="t"/>
          <a:lstStyle/>
          <a:p>
            <a:pPr marL="0" indent="0" algn="l">
              <a:lnSpc>
                <a:spcPts val="4150"/>
              </a:lnSpc>
              <a:buNone/>
            </a:pPr>
            <a:r>
              <a:rPr lang="en-US" sz="3300" dirty="0">
                <a:solidFill>
                  <a:srgbClr val="F2D4BA"/>
                </a:solidFill>
                <a:latin typeface="Prata" pitchFamily="34" charset="0"/>
                <a:ea typeface="Prata" pitchFamily="34" charset="-122"/>
                <a:cs typeface="Prata" pitchFamily="34" charset="-120"/>
              </a:rPr>
              <a:t>Demo Flow 1: Seamless Omnichannel Context</a:t>
            </a:r>
            <a:endParaRPr lang="en-US" sz="3300" dirty="0"/>
          </a:p>
        </p:txBody>
      </p:sp>
      <p:sp>
        <p:nvSpPr>
          <p:cNvPr id="3" name="Text 1"/>
          <p:cNvSpPr/>
          <p:nvPr/>
        </p:nvSpPr>
        <p:spPr>
          <a:xfrm>
            <a:off x="677585" y="1352669"/>
            <a:ext cx="13275231" cy="541972"/>
          </a:xfrm>
          <a:prstGeom prst="rect">
            <a:avLst/>
          </a:prstGeom>
          <a:noFill/>
          <a:ln/>
        </p:spPr>
        <p:txBody>
          <a:bodyPr wrap="square" lIns="0" tIns="0" rIns="0" bIns="0" rtlCol="0" anchor="t"/>
          <a:lstStyle/>
          <a:p>
            <a:pPr marL="0" indent="0" algn="l">
              <a:lnSpc>
                <a:spcPts val="2100"/>
              </a:lnSpc>
              <a:buNone/>
            </a:pPr>
            <a:r>
              <a:rPr lang="en-US" sz="1300" dirty="0">
                <a:solidFill>
                  <a:srgbClr val="BDA189"/>
                </a:solidFill>
                <a:latin typeface="Manrope" pitchFamily="34" charset="0"/>
                <a:ea typeface="Manrope" pitchFamily="34" charset="-122"/>
                <a:cs typeface="Manrope" pitchFamily="34" charset="-120"/>
              </a:rPr>
              <a:t>This demonstration illustrates our system's core capability: maintaining and leveraging complete customer context across every channel and every interaction, eliminating the friction that plagues traditional retail experiences.</a:t>
            </a:r>
            <a:endParaRPr lang="en-US" sz="1300" dirty="0"/>
          </a:p>
        </p:txBody>
      </p:sp>
      <p:sp>
        <p:nvSpPr>
          <p:cNvPr id="4" name="Text 2"/>
          <p:cNvSpPr/>
          <p:nvPr/>
        </p:nvSpPr>
        <p:spPr>
          <a:xfrm>
            <a:off x="677585" y="2085142"/>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BDA189"/>
                </a:solidFill>
                <a:latin typeface="Prata Light" pitchFamily="34" charset="0"/>
                <a:ea typeface="Prata Light" pitchFamily="34" charset="-122"/>
                <a:cs typeface="Prata Light" pitchFamily="34" charset="-120"/>
              </a:rPr>
              <a:t>01</a:t>
            </a:r>
            <a:endParaRPr lang="en-US" sz="1300" dirty="0"/>
          </a:p>
        </p:txBody>
      </p:sp>
      <p:sp>
        <p:nvSpPr>
          <p:cNvPr id="5" name="Shape 3"/>
          <p:cNvSpPr/>
          <p:nvPr/>
        </p:nvSpPr>
        <p:spPr>
          <a:xfrm>
            <a:off x="677585" y="2350056"/>
            <a:ext cx="6552962" cy="22860"/>
          </a:xfrm>
          <a:prstGeom prst="rect">
            <a:avLst/>
          </a:prstGeom>
          <a:solidFill>
            <a:srgbClr val="84482D"/>
          </a:solidFill>
          <a:ln/>
        </p:spPr>
        <p:txBody>
          <a:bodyPr/>
          <a:lstStyle/>
          <a:p>
            <a:endParaRPr lang="en-IN"/>
          </a:p>
        </p:txBody>
      </p:sp>
      <p:sp>
        <p:nvSpPr>
          <p:cNvPr id="6" name="Text 4"/>
          <p:cNvSpPr/>
          <p:nvPr/>
        </p:nvSpPr>
        <p:spPr>
          <a:xfrm>
            <a:off x="677585" y="2480429"/>
            <a:ext cx="2169914" cy="264676"/>
          </a:xfrm>
          <a:prstGeom prst="rect">
            <a:avLst/>
          </a:prstGeom>
          <a:noFill/>
          <a:ln/>
        </p:spPr>
        <p:txBody>
          <a:bodyPr wrap="none" lIns="0" tIns="0" rIns="0" bIns="0" rtlCol="0" anchor="t"/>
          <a:lstStyle/>
          <a:p>
            <a:pPr marL="0" indent="0" algn="l">
              <a:lnSpc>
                <a:spcPts val="2050"/>
              </a:lnSpc>
              <a:buNone/>
            </a:pPr>
            <a:r>
              <a:rPr lang="en-US" sz="1650" dirty="0">
                <a:solidFill>
                  <a:srgbClr val="BDA189"/>
                </a:solidFill>
                <a:latin typeface="Prata" pitchFamily="34" charset="0"/>
                <a:ea typeface="Prata" pitchFamily="34" charset="-122"/>
                <a:cs typeface="Prata" pitchFamily="34" charset="-120"/>
              </a:rPr>
              <a:t>Mobile App Initiation</a:t>
            </a:r>
            <a:endParaRPr lang="en-US" sz="1650" dirty="0"/>
          </a:p>
        </p:txBody>
      </p:sp>
      <p:sp>
        <p:nvSpPr>
          <p:cNvPr id="7" name="Text 5"/>
          <p:cNvSpPr/>
          <p:nvPr/>
        </p:nvSpPr>
        <p:spPr>
          <a:xfrm>
            <a:off x="677585" y="2846665"/>
            <a:ext cx="6552962" cy="1625918"/>
          </a:xfrm>
          <a:prstGeom prst="rect">
            <a:avLst/>
          </a:prstGeom>
          <a:noFill/>
          <a:ln/>
        </p:spPr>
        <p:txBody>
          <a:bodyPr wrap="square" lIns="0" tIns="0" rIns="0" bIns="0" rtlCol="0" anchor="t"/>
          <a:lstStyle/>
          <a:p>
            <a:pPr marL="0" indent="0" algn="l">
              <a:lnSpc>
                <a:spcPts val="2100"/>
              </a:lnSpc>
              <a:buNone/>
            </a:pPr>
            <a:r>
              <a:rPr lang="en-US" sz="1300" dirty="0">
                <a:solidFill>
                  <a:srgbClr val="BDA189"/>
                </a:solidFill>
                <a:latin typeface="Manrope" pitchFamily="34" charset="0"/>
                <a:ea typeface="Manrope" pitchFamily="34" charset="-122"/>
                <a:cs typeface="Manrope" pitchFamily="34" charset="-120"/>
              </a:rPr>
              <a:t>Customer John initiates a conversation: "Hi, I'm looking for shoes to wear to a wedding. I have a blue suit I need to match." The Sales Agent immediately recognizes this is John (verified through his account), reviews his profile (Gold loyalty member, size 10, previous formal wear purchases), and responds contextually: "Welcome back, John! Those brown leather oxfords would be perfect with a blue suit—they're also on sale for Gold members this week."</a:t>
            </a:r>
            <a:endParaRPr lang="en-US" sz="1300" dirty="0"/>
          </a:p>
        </p:txBody>
      </p:sp>
      <p:sp>
        <p:nvSpPr>
          <p:cNvPr id="8" name="Text 6"/>
          <p:cNvSpPr/>
          <p:nvPr/>
        </p:nvSpPr>
        <p:spPr>
          <a:xfrm>
            <a:off x="7399853" y="2085142"/>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BDA189"/>
                </a:solidFill>
                <a:latin typeface="Prata Light" pitchFamily="34" charset="0"/>
                <a:ea typeface="Prata Light" pitchFamily="34" charset="-122"/>
                <a:cs typeface="Prata Light" pitchFamily="34" charset="-120"/>
              </a:rPr>
              <a:t>02</a:t>
            </a:r>
            <a:endParaRPr lang="en-US" sz="1300" dirty="0"/>
          </a:p>
        </p:txBody>
      </p:sp>
      <p:sp>
        <p:nvSpPr>
          <p:cNvPr id="9" name="Shape 7"/>
          <p:cNvSpPr/>
          <p:nvPr/>
        </p:nvSpPr>
        <p:spPr>
          <a:xfrm>
            <a:off x="7399853" y="2350056"/>
            <a:ext cx="6552962" cy="22860"/>
          </a:xfrm>
          <a:prstGeom prst="rect">
            <a:avLst/>
          </a:prstGeom>
          <a:solidFill>
            <a:srgbClr val="84482D"/>
          </a:solidFill>
          <a:ln/>
        </p:spPr>
        <p:txBody>
          <a:bodyPr/>
          <a:lstStyle/>
          <a:p>
            <a:endParaRPr lang="en-IN"/>
          </a:p>
        </p:txBody>
      </p:sp>
      <p:sp>
        <p:nvSpPr>
          <p:cNvPr id="10" name="Text 8"/>
          <p:cNvSpPr/>
          <p:nvPr/>
        </p:nvSpPr>
        <p:spPr>
          <a:xfrm>
            <a:off x="7399853" y="2480429"/>
            <a:ext cx="3050977" cy="264676"/>
          </a:xfrm>
          <a:prstGeom prst="rect">
            <a:avLst/>
          </a:prstGeom>
          <a:noFill/>
          <a:ln/>
        </p:spPr>
        <p:txBody>
          <a:bodyPr wrap="none" lIns="0" tIns="0" rIns="0" bIns="0" rtlCol="0" anchor="t"/>
          <a:lstStyle/>
          <a:p>
            <a:pPr marL="0" indent="0" algn="l">
              <a:lnSpc>
                <a:spcPts val="2050"/>
              </a:lnSpc>
              <a:buNone/>
            </a:pPr>
            <a:r>
              <a:rPr lang="en-US" sz="1650" dirty="0">
                <a:solidFill>
                  <a:srgbClr val="BDA189"/>
                </a:solidFill>
                <a:latin typeface="Prata" pitchFamily="34" charset="0"/>
                <a:ea typeface="Prata" pitchFamily="34" charset="-122"/>
                <a:cs typeface="Prata" pitchFamily="34" charset="-120"/>
              </a:rPr>
              <a:t>Context Persisted to Database</a:t>
            </a:r>
            <a:endParaRPr lang="en-US" sz="1650" dirty="0"/>
          </a:p>
        </p:txBody>
      </p:sp>
      <p:sp>
        <p:nvSpPr>
          <p:cNvPr id="11" name="Text 9"/>
          <p:cNvSpPr/>
          <p:nvPr/>
        </p:nvSpPr>
        <p:spPr>
          <a:xfrm>
            <a:off x="7399853" y="2846665"/>
            <a:ext cx="6552962" cy="1354931"/>
          </a:xfrm>
          <a:prstGeom prst="rect">
            <a:avLst/>
          </a:prstGeom>
          <a:noFill/>
          <a:ln/>
        </p:spPr>
        <p:txBody>
          <a:bodyPr wrap="square" lIns="0" tIns="0" rIns="0" bIns="0" rtlCol="0" anchor="t"/>
          <a:lstStyle/>
          <a:p>
            <a:pPr marL="0" indent="0" algn="l">
              <a:lnSpc>
                <a:spcPts val="2100"/>
              </a:lnSpc>
              <a:buNone/>
            </a:pPr>
            <a:r>
              <a:rPr lang="en-US" sz="1300" dirty="0">
                <a:solidFill>
                  <a:srgbClr val="BDA189"/>
                </a:solidFill>
                <a:latin typeface="Manrope" pitchFamily="34" charset="0"/>
                <a:ea typeface="Manrope" pitchFamily="34" charset="-122"/>
                <a:cs typeface="Manrope" pitchFamily="34" charset="-120"/>
              </a:rPr>
              <a:t>As John adds items to his cart and the conversation progresses, every detail is captured and stored: session ID, customer preferences, cart contents, conversation context, and decision points. The system records: "User considering formal wedding shoes, mentioned blue suit, added oxfords size 10 to cart, indicated need for further consideration."</a:t>
            </a:r>
            <a:endParaRPr lang="en-US" sz="1300" dirty="0"/>
          </a:p>
        </p:txBody>
      </p:sp>
      <p:sp>
        <p:nvSpPr>
          <p:cNvPr id="12" name="Text 10"/>
          <p:cNvSpPr/>
          <p:nvPr/>
        </p:nvSpPr>
        <p:spPr>
          <a:xfrm>
            <a:off x="677585" y="4768929"/>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BDA189"/>
                </a:solidFill>
                <a:latin typeface="Prata Light" pitchFamily="34" charset="0"/>
                <a:ea typeface="Prata Light" pitchFamily="34" charset="-122"/>
                <a:cs typeface="Prata Light" pitchFamily="34" charset="-120"/>
              </a:rPr>
              <a:t>03</a:t>
            </a:r>
            <a:endParaRPr lang="en-US" sz="1300" dirty="0"/>
          </a:p>
        </p:txBody>
      </p:sp>
      <p:sp>
        <p:nvSpPr>
          <p:cNvPr id="13" name="Shape 11"/>
          <p:cNvSpPr/>
          <p:nvPr/>
        </p:nvSpPr>
        <p:spPr>
          <a:xfrm>
            <a:off x="677585" y="5033843"/>
            <a:ext cx="6552962" cy="22860"/>
          </a:xfrm>
          <a:prstGeom prst="rect">
            <a:avLst/>
          </a:prstGeom>
          <a:solidFill>
            <a:srgbClr val="84482D"/>
          </a:solidFill>
          <a:ln/>
        </p:spPr>
        <p:txBody>
          <a:bodyPr/>
          <a:lstStyle/>
          <a:p>
            <a:endParaRPr lang="en-IN"/>
          </a:p>
        </p:txBody>
      </p:sp>
      <p:sp>
        <p:nvSpPr>
          <p:cNvPr id="14" name="Text 12"/>
          <p:cNvSpPr/>
          <p:nvPr/>
        </p:nvSpPr>
        <p:spPr>
          <a:xfrm>
            <a:off x="677585" y="5164217"/>
            <a:ext cx="3089910" cy="264676"/>
          </a:xfrm>
          <a:prstGeom prst="rect">
            <a:avLst/>
          </a:prstGeom>
          <a:noFill/>
          <a:ln/>
        </p:spPr>
        <p:txBody>
          <a:bodyPr wrap="none" lIns="0" tIns="0" rIns="0" bIns="0" rtlCol="0" anchor="t"/>
          <a:lstStyle/>
          <a:p>
            <a:pPr marL="0" indent="0" algn="l">
              <a:lnSpc>
                <a:spcPts val="2050"/>
              </a:lnSpc>
              <a:buNone/>
            </a:pPr>
            <a:r>
              <a:rPr lang="en-US" sz="1650" dirty="0">
                <a:solidFill>
                  <a:srgbClr val="BDA189"/>
                </a:solidFill>
                <a:latin typeface="Prata" pitchFamily="34" charset="0"/>
                <a:ea typeface="Prata" pitchFamily="34" charset="-122"/>
                <a:cs typeface="Prata" pitchFamily="34" charset="-120"/>
              </a:rPr>
              <a:t>Channel Transition (Next Day)</a:t>
            </a:r>
            <a:endParaRPr lang="en-US" sz="1650" dirty="0"/>
          </a:p>
        </p:txBody>
      </p:sp>
      <p:sp>
        <p:nvSpPr>
          <p:cNvPr id="15" name="Text 13"/>
          <p:cNvSpPr/>
          <p:nvPr/>
        </p:nvSpPr>
        <p:spPr>
          <a:xfrm>
            <a:off x="677585" y="5530453"/>
            <a:ext cx="6552962" cy="1083945"/>
          </a:xfrm>
          <a:prstGeom prst="rect">
            <a:avLst/>
          </a:prstGeom>
          <a:noFill/>
          <a:ln/>
        </p:spPr>
        <p:txBody>
          <a:bodyPr wrap="square" lIns="0" tIns="0" rIns="0" bIns="0" rtlCol="0" anchor="t"/>
          <a:lstStyle/>
          <a:p>
            <a:pPr marL="0" indent="0" algn="l">
              <a:lnSpc>
                <a:spcPts val="2100"/>
              </a:lnSpc>
              <a:buNone/>
            </a:pPr>
            <a:r>
              <a:rPr lang="en-US" sz="1300" dirty="0">
                <a:solidFill>
                  <a:srgbClr val="BDA189"/>
                </a:solidFill>
                <a:latin typeface="Manrope" pitchFamily="34" charset="0"/>
                <a:ea typeface="Manrope" pitchFamily="34" charset="-122"/>
                <a:cs typeface="Manrope" pitchFamily="34" charset="-120"/>
              </a:rPr>
              <a:t>John arrives at the physical store the next morning. He scans his loyalty QR code at the in-store kiosk. The system instantly retrieves his complete session from PostgreSQL—all prior interactions, his cart status, his preferences, his specific needs.</a:t>
            </a:r>
            <a:endParaRPr lang="en-US" sz="1300" dirty="0"/>
          </a:p>
        </p:txBody>
      </p:sp>
      <p:sp>
        <p:nvSpPr>
          <p:cNvPr id="16" name="Text 14"/>
          <p:cNvSpPr/>
          <p:nvPr/>
        </p:nvSpPr>
        <p:spPr>
          <a:xfrm>
            <a:off x="7399853" y="4768929"/>
            <a:ext cx="169307" cy="211693"/>
          </a:xfrm>
          <a:prstGeom prst="rect">
            <a:avLst/>
          </a:prstGeom>
          <a:noFill/>
          <a:ln/>
        </p:spPr>
        <p:txBody>
          <a:bodyPr wrap="none" lIns="0" tIns="0" rIns="0" bIns="0" rtlCol="0" anchor="t"/>
          <a:lstStyle/>
          <a:p>
            <a:pPr marL="0" indent="0" algn="l">
              <a:lnSpc>
                <a:spcPts val="2100"/>
              </a:lnSpc>
              <a:buNone/>
            </a:pPr>
            <a:r>
              <a:rPr lang="en-US" sz="1300" dirty="0">
                <a:solidFill>
                  <a:srgbClr val="BDA189"/>
                </a:solidFill>
                <a:latin typeface="Prata Light" pitchFamily="34" charset="0"/>
                <a:ea typeface="Prata Light" pitchFamily="34" charset="-122"/>
                <a:cs typeface="Prata Light" pitchFamily="34" charset="-120"/>
              </a:rPr>
              <a:t>04</a:t>
            </a:r>
            <a:endParaRPr lang="en-US" sz="1300" dirty="0"/>
          </a:p>
        </p:txBody>
      </p:sp>
      <p:sp>
        <p:nvSpPr>
          <p:cNvPr id="17" name="Shape 15"/>
          <p:cNvSpPr/>
          <p:nvPr/>
        </p:nvSpPr>
        <p:spPr>
          <a:xfrm>
            <a:off x="7399853" y="5033843"/>
            <a:ext cx="6552962" cy="22860"/>
          </a:xfrm>
          <a:prstGeom prst="rect">
            <a:avLst/>
          </a:prstGeom>
          <a:solidFill>
            <a:srgbClr val="84482D"/>
          </a:solidFill>
          <a:ln/>
        </p:spPr>
        <p:txBody>
          <a:bodyPr/>
          <a:lstStyle/>
          <a:p>
            <a:endParaRPr lang="en-IN"/>
          </a:p>
        </p:txBody>
      </p:sp>
      <p:sp>
        <p:nvSpPr>
          <p:cNvPr id="18" name="Text 16"/>
          <p:cNvSpPr/>
          <p:nvPr/>
        </p:nvSpPr>
        <p:spPr>
          <a:xfrm>
            <a:off x="7399853" y="5164217"/>
            <a:ext cx="3067645" cy="264676"/>
          </a:xfrm>
          <a:prstGeom prst="rect">
            <a:avLst/>
          </a:prstGeom>
          <a:noFill/>
          <a:ln/>
        </p:spPr>
        <p:txBody>
          <a:bodyPr wrap="none" lIns="0" tIns="0" rIns="0" bIns="0" rtlCol="0" anchor="t"/>
          <a:lstStyle/>
          <a:p>
            <a:pPr marL="0" indent="0" algn="l">
              <a:lnSpc>
                <a:spcPts val="2050"/>
              </a:lnSpc>
              <a:buNone/>
            </a:pPr>
            <a:r>
              <a:rPr lang="en-US" sz="1650" dirty="0">
                <a:solidFill>
                  <a:srgbClr val="BDA189"/>
                </a:solidFill>
                <a:latin typeface="Prata" pitchFamily="34" charset="0"/>
                <a:ea typeface="Prata" pitchFamily="34" charset="-122"/>
                <a:cs typeface="Prata" pitchFamily="34" charset="-120"/>
              </a:rPr>
              <a:t>Seamless In-Store Experience</a:t>
            </a:r>
            <a:endParaRPr lang="en-US" sz="1650" dirty="0"/>
          </a:p>
        </p:txBody>
      </p:sp>
      <p:sp>
        <p:nvSpPr>
          <p:cNvPr id="19" name="Text 17"/>
          <p:cNvSpPr/>
          <p:nvPr/>
        </p:nvSpPr>
        <p:spPr>
          <a:xfrm>
            <a:off x="7399853" y="5530453"/>
            <a:ext cx="6552962" cy="1354931"/>
          </a:xfrm>
          <a:prstGeom prst="rect">
            <a:avLst/>
          </a:prstGeom>
          <a:noFill/>
          <a:ln/>
        </p:spPr>
        <p:txBody>
          <a:bodyPr wrap="square" lIns="0" tIns="0" rIns="0" bIns="0" rtlCol="0" anchor="t"/>
          <a:lstStyle/>
          <a:p>
            <a:pPr marL="0" indent="0" algn="l">
              <a:lnSpc>
                <a:spcPts val="2100"/>
              </a:lnSpc>
              <a:buNone/>
            </a:pPr>
            <a:r>
              <a:rPr lang="en-US" sz="1300" dirty="0">
                <a:solidFill>
                  <a:srgbClr val="BDA189"/>
                </a:solidFill>
                <a:latin typeface="Manrope" pitchFamily="34" charset="0"/>
                <a:ea typeface="Manrope" pitchFamily="34" charset="-122"/>
                <a:cs typeface="Manrope" pitchFamily="34" charset="-120"/>
              </a:rPr>
              <a:t>The kiosk greets him: "Welcome back, John! I see you were researching those brown leather oxfords for your wedding. Great news—we have them in stock in your size 10 right here in our formal wear section, and we can have you fitted in minutes. Would you like to try them on, or shall we finalize your purchase?" John experiences zero friction, zero repetition, and maximum convenience.</a:t>
            </a:r>
            <a:endParaRPr lang="en-US" sz="1300" dirty="0"/>
          </a:p>
        </p:txBody>
      </p:sp>
      <p:sp>
        <p:nvSpPr>
          <p:cNvPr id="20" name="Text 18"/>
          <p:cNvSpPr/>
          <p:nvPr/>
        </p:nvSpPr>
        <p:spPr>
          <a:xfrm>
            <a:off x="677585" y="7202924"/>
            <a:ext cx="13275231" cy="541972"/>
          </a:xfrm>
          <a:prstGeom prst="rect">
            <a:avLst/>
          </a:prstGeom>
          <a:noFill/>
          <a:ln/>
        </p:spPr>
        <p:txBody>
          <a:bodyPr wrap="square" lIns="0" tIns="0" rIns="0" bIns="0" rtlCol="0" anchor="t"/>
          <a:lstStyle/>
          <a:p>
            <a:pPr marL="0" indent="0" algn="l">
              <a:lnSpc>
                <a:spcPts val="2100"/>
              </a:lnSpc>
              <a:buNone/>
            </a:pPr>
            <a:r>
              <a:rPr lang="en-US" sz="1300" b="1" dirty="0">
                <a:solidFill>
                  <a:srgbClr val="151617"/>
                </a:solidFill>
                <a:latin typeface="Manrope" pitchFamily="34" charset="0"/>
                <a:ea typeface="Manrope" pitchFamily="34" charset="-122"/>
                <a:cs typeface="Manrope" pitchFamily="34" charset="-120"/>
              </a:rPr>
              <a:t>Business Impact</a:t>
            </a:r>
            <a:r>
              <a:rPr lang="en-US" sz="1300" dirty="0">
                <a:solidFill>
                  <a:srgbClr val="BDA189"/>
                </a:solidFill>
                <a:latin typeface="Manrope" pitchFamily="34" charset="0"/>
                <a:ea typeface="Manrope" pitchFamily="34" charset="-122"/>
                <a:cs typeface="Manrope" pitchFamily="34" charset="-120"/>
              </a:rPr>
              <a:t>: This seamless experience eliminates the frustration that causes 34% of customers to abandon purchases mid-journey. By maintaining continuous context, we increase conversion rates, reduce support costs, and transform customers into advocates who return repeatedly.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465058" y="476369"/>
            <a:ext cx="6538317" cy="363379"/>
          </a:xfrm>
          <a:prstGeom prst="rect">
            <a:avLst/>
          </a:prstGeom>
          <a:noFill/>
          <a:ln/>
        </p:spPr>
        <p:txBody>
          <a:bodyPr wrap="none" lIns="0" tIns="0" rIns="0" bIns="0" rtlCol="0" anchor="t"/>
          <a:lstStyle/>
          <a:p>
            <a:pPr marL="0" indent="0" algn="l">
              <a:lnSpc>
                <a:spcPts val="2850"/>
              </a:lnSpc>
              <a:buNone/>
            </a:pPr>
            <a:r>
              <a:rPr lang="en-US" sz="2250" dirty="0">
                <a:solidFill>
                  <a:srgbClr val="F2D4BA"/>
                </a:solidFill>
                <a:latin typeface="Prata" pitchFamily="34" charset="0"/>
                <a:ea typeface="Prata" pitchFamily="34" charset="-122"/>
                <a:cs typeface="Prata" pitchFamily="34" charset="-120"/>
              </a:rPr>
              <a:t>Demo Flow 2: End-to-End Agent Orchestration</a:t>
            </a:r>
            <a:endParaRPr lang="en-US" sz="2250" dirty="0"/>
          </a:p>
        </p:txBody>
      </p:sp>
      <p:sp>
        <p:nvSpPr>
          <p:cNvPr id="3" name="Text 1"/>
          <p:cNvSpPr/>
          <p:nvPr/>
        </p:nvSpPr>
        <p:spPr>
          <a:xfrm>
            <a:off x="465058" y="1072277"/>
            <a:ext cx="13700284" cy="372189"/>
          </a:xfrm>
          <a:prstGeom prst="rect">
            <a:avLst/>
          </a:prstGeom>
          <a:noFill/>
          <a:ln/>
        </p:spPr>
        <p:txBody>
          <a:bodyPr wrap="squar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This demonstration reveals the sophisticated intelligence operating behind the scenes. Watch how seven specialized agents collaborate seamlessly to execute a complete retail transaction—from intelligent recommendation through post-purchase engagement—each agent contributing its expertise while sharing real-time context.</a:t>
            </a:r>
            <a:endParaRPr lang="en-US" sz="900" dirty="0"/>
          </a:p>
        </p:txBody>
      </p:sp>
      <p:sp>
        <p:nvSpPr>
          <p:cNvPr id="4" name="Text 2"/>
          <p:cNvSpPr/>
          <p:nvPr/>
        </p:nvSpPr>
        <p:spPr>
          <a:xfrm>
            <a:off x="465058" y="1575197"/>
            <a:ext cx="13700284" cy="186095"/>
          </a:xfrm>
          <a:prstGeom prst="rect">
            <a:avLst/>
          </a:prstGeom>
          <a:noFill/>
          <a:ln/>
        </p:spPr>
        <p:txBody>
          <a:bodyPr wrap="none" lIns="0" tIns="0" rIns="0" bIns="0" rtlCol="0" anchor="t"/>
          <a:lstStyle/>
          <a:p>
            <a:pPr marL="0" indent="0" algn="l">
              <a:lnSpc>
                <a:spcPts val="1450"/>
              </a:lnSpc>
              <a:buNone/>
            </a:pPr>
            <a:r>
              <a:rPr lang="en-US" sz="900" b="1" dirty="0">
                <a:solidFill>
                  <a:srgbClr val="BDA189"/>
                </a:solidFill>
                <a:latin typeface="Manrope" pitchFamily="34" charset="0"/>
                <a:ea typeface="Manrope" pitchFamily="34" charset="-122"/>
                <a:cs typeface="Manrope" pitchFamily="34" charset="-120"/>
              </a:rPr>
              <a:t>Scenario</a:t>
            </a:r>
            <a:r>
              <a:rPr lang="en-US" sz="900" dirty="0">
                <a:solidFill>
                  <a:srgbClr val="BDA189"/>
                </a:solidFill>
                <a:latin typeface="Manrope" pitchFamily="34" charset="0"/>
                <a:ea typeface="Manrope" pitchFamily="34" charset="-122"/>
                <a:cs typeface="Manrope" pitchFamily="34" charset="-120"/>
              </a:rPr>
              <a:t>: John decides to purchase the shoes at the kiosk and seeks a recommendation for complementary accessories.</a:t>
            </a:r>
            <a:endParaRPr lang="en-US" sz="900" dirty="0"/>
          </a:p>
        </p:txBody>
      </p:sp>
      <p:pic>
        <p:nvPicPr>
          <p:cNvPr id="5" name="Image 0" descr="preencoded.png"/>
          <p:cNvPicPr>
            <a:picLocks noChangeAspect="1"/>
          </p:cNvPicPr>
          <p:nvPr/>
        </p:nvPicPr>
        <p:blipFill>
          <a:blip r:embed="rId3"/>
          <a:stretch>
            <a:fillRect/>
          </a:stretch>
        </p:blipFill>
        <p:spPr>
          <a:xfrm>
            <a:off x="465058" y="1892022"/>
            <a:ext cx="581382" cy="697587"/>
          </a:xfrm>
          <a:prstGeom prst="rect">
            <a:avLst/>
          </a:prstGeom>
        </p:spPr>
      </p:pic>
      <p:sp>
        <p:nvSpPr>
          <p:cNvPr id="6" name="Text 3"/>
          <p:cNvSpPr/>
          <p:nvPr/>
        </p:nvSpPr>
        <p:spPr>
          <a:xfrm>
            <a:off x="1162645" y="2008227"/>
            <a:ext cx="1932384"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Sales Agent Routes Request</a:t>
            </a:r>
            <a:endParaRPr lang="en-US" sz="1100" dirty="0"/>
          </a:p>
        </p:txBody>
      </p:sp>
      <p:sp>
        <p:nvSpPr>
          <p:cNvPr id="7" name="Text 4"/>
          <p:cNvSpPr/>
          <p:nvPr/>
        </p:nvSpPr>
        <p:spPr>
          <a:xfrm>
            <a:off x="1162645" y="2259568"/>
            <a:ext cx="13002697" cy="186095"/>
          </a:xfrm>
          <a:prstGeom prst="rect">
            <a:avLst/>
          </a:prstGeom>
          <a:noFill/>
          <a:ln/>
        </p:spPr>
        <p:txBody>
          <a:bodyPr wrap="non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John: "Perfect, I'll take them. Can you suggest a matching belt?" The Sales Agent recognizes this requires specialized expertise and routes to the Recommendation Engine.</a:t>
            </a:r>
            <a:endParaRPr lang="en-US" sz="900" dirty="0"/>
          </a:p>
        </p:txBody>
      </p:sp>
      <p:pic>
        <p:nvPicPr>
          <p:cNvPr id="8" name="Image 1" descr="preencoded.png"/>
          <p:cNvPicPr>
            <a:picLocks noChangeAspect="1"/>
          </p:cNvPicPr>
          <p:nvPr/>
        </p:nvPicPr>
        <p:blipFill>
          <a:blip r:embed="rId4"/>
          <a:stretch>
            <a:fillRect/>
          </a:stretch>
        </p:blipFill>
        <p:spPr>
          <a:xfrm>
            <a:off x="465058" y="2589609"/>
            <a:ext cx="581382" cy="855940"/>
          </a:xfrm>
          <a:prstGeom prst="rect">
            <a:avLst/>
          </a:prstGeom>
        </p:spPr>
      </p:pic>
      <p:sp>
        <p:nvSpPr>
          <p:cNvPr id="9" name="Text 5"/>
          <p:cNvSpPr/>
          <p:nvPr/>
        </p:nvSpPr>
        <p:spPr>
          <a:xfrm>
            <a:off x="1162645" y="2705814"/>
            <a:ext cx="2343388"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Recommendation Agent Analyzes</a:t>
            </a:r>
            <a:endParaRPr lang="en-US" sz="1100" dirty="0"/>
          </a:p>
        </p:txBody>
      </p:sp>
      <p:sp>
        <p:nvSpPr>
          <p:cNvPr id="10" name="Text 6"/>
          <p:cNvSpPr/>
          <p:nvPr/>
        </p:nvSpPr>
        <p:spPr>
          <a:xfrm>
            <a:off x="1162645" y="2957155"/>
            <a:ext cx="13002697" cy="372189"/>
          </a:xfrm>
          <a:prstGeom prst="rect">
            <a:avLst/>
          </a:prstGeom>
          <a:noFill/>
          <a:ln/>
        </p:spPr>
        <p:txBody>
          <a:bodyPr wrap="squar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Using John's profile, the formality context, color preferences, and product compatibility algorithms, the Recommendation Agent suggests: "This dark brown leather belt complements those oxfords beautifully—Italian leather, premium quality, same brand as the shoes for cohesion."</a:t>
            </a:r>
            <a:endParaRPr lang="en-US" sz="900" dirty="0"/>
          </a:p>
        </p:txBody>
      </p:sp>
      <p:pic>
        <p:nvPicPr>
          <p:cNvPr id="11" name="Image 2" descr="preencoded.png"/>
          <p:cNvPicPr>
            <a:picLocks noChangeAspect="1"/>
          </p:cNvPicPr>
          <p:nvPr/>
        </p:nvPicPr>
        <p:blipFill>
          <a:blip r:embed="rId5"/>
          <a:stretch>
            <a:fillRect/>
          </a:stretch>
        </p:blipFill>
        <p:spPr>
          <a:xfrm>
            <a:off x="465058" y="3445550"/>
            <a:ext cx="581382" cy="697587"/>
          </a:xfrm>
          <a:prstGeom prst="rect">
            <a:avLst/>
          </a:prstGeom>
        </p:spPr>
      </p:pic>
      <p:sp>
        <p:nvSpPr>
          <p:cNvPr id="12" name="Text 7"/>
          <p:cNvSpPr/>
          <p:nvPr/>
        </p:nvSpPr>
        <p:spPr>
          <a:xfrm>
            <a:off x="1162645" y="3561755"/>
            <a:ext cx="2212777"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Inventory Agent Confirms Stock</a:t>
            </a:r>
            <a:endParaRPr lang="en-US" sz="1100" dirty="0"/>
          </a:p>
        </p:txBody>
      </p:sp>
      <p:sp>
        <p:nvSpPr>
          <p:cNvPr id="13" name="Text 8"/>
          <p:cNvSpPr/>
          <p:nvPr/>
        </p:nvSpPr>
        <p:spPr>
          <a:xfrm>
            <a:off x="1162645" y="3813096"/>
            <a:ext cx="13002697" cy="186095"/>
          </a:xfrm>
          <a:prstGeom prst="rect">
            <a:avLst/>
          </a:prstGeom>
          <a:noFill/>
          <a:ln/>
        </p:spPr>
        <p:txBody>
          <a:bodyPr wrap="non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Before presenting options, the Inventory Agent verifies real-time availability: both the shoes and belt are in stock at the current location with sufficient quantities. This intelligence prevents the frustration of recommending unavailable items.</a:t>
            </a:r>
            <a:endParaRPr lang="en-US" sz="900" dirty="0"/>
          </a:p>
        </p:txBody>
      </p:sp>
      <p:pic>
        <p:nvPicPr>
          <p:cNvPr id="14" name="Image 3" descr="preencoded.png"/>
          <p:cNvPicPr>
            <a:picLocks noChangeAspect="1"/>
          </p:cNvPicPr>
          <p:nvPr/>
        </p:nvPicPr>
        <p:blipFill>
          <a:blip r:embed="rId6"/>
          <a:stretch>
            <a:fillRect/>
          </a:stretch>
        </p:blipFill>
        <p:spPr>
          <a:xfrm>
            <a:off x="465058" y="4143137"/>
            <a:ext cx="581382" cy="855940"/>
          </a:xfrm>
          <a:prstGeom prst="rect">
            <a:avLst/>
          </a:prstGeom>
        </p:spPr>
      </p:pic>
      <p:sp>
        <p:nvSpPr>
          <p:cNvPr id="15" name="Text 9"/>
          <p:cNvSpPr/>
          <p:nvPr/>
        </p:nvSpPr>
        <p:spPr>
          <a:xfrm>
            <a:off x="1162645" y="4259342"/>
            <a:ext cx="2113359"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Loyalty Agent Optimizes Value</a:t>
            </a:r>
            <a:endParaRPr lang="en-US" sz="1100" dirty="0"/>
          </a:p>
        </p:txBody>
      </p:sp>
      <p:sp>
        <p:nvSpPr>
          <p:cNvPr id="16" name="Text 10"/>
          <p:cNvSpPr/>
          <p:nvPr/>
        </p:nvSpPr>
        <p:spPr>
          <a:xfrm>
            <a:off x="1162645" y="4510683"/>
            <a:ext cx="13002697" cy="372189"/>
          </a:xfrm>
          <a:prstGeom prst="rect">
            <a:avLst/>
          </a:prstGeom>
          <a:noFill/>
          <a:ln/>
        </p:spPr>
        <p:txBody>
          <a:bodyPr wrap="squar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The Loyalty Agent calculates: John has 500 accumulated loyalty points, this purchase qualifies him for an additional 200 points, and applying existing points provides $5 savings. The agent proposes: "Your total would be $180. I see you have 500 loyalty points—would you like to redeem them for $5 off, bringing your total to $175?"</a:t>
            </a:r>
            <a:endParaRPr lang="en-US" sz="900" dirty="0"/>
          </a:p>
        </p:txBody>
      </p:sp>
      <p:pic>
        <p:nvPicPr>
          <p:cNvPr id="17" name="Image 4" descr="preencoded.png"/>
          <p:cNvPicPr>
            <a:picLocks noChangeAspect="1"/>
          </p:cNvPicPr>
          <p:nvPr/>
        </p:nvPicPr>
        <p:blipFill>
          <a:blip r:embed="rId7"/>
          <a:stretch>
            <a:fillRect/>
          </a:stretch>
        </p:blipFill>
        <p:spPr>
          <a:xfrm>
            <a:off x="465058" y="4999077"/>
            <a:ext cx="581382" cy="697587"/>
          </a:xfrm>
          <a:prstGeom prst="rect">
            <a:avLst/>
          </a:prstGeom>
        </p:spPr>
      </p:pic>
      <p:sp>
        <p:nvSpPr>
          <p:cNvPr id="18" name="Text 11"/>
          <p:cNvSpPr/>
          <p:nvPr/>
        </p:nvSpPr>
        <p:spPr>
          <a:xfrm>
            <a:off x="1162645" y="5115282"/>
            <a:ext cx="1784866"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Payment Agent Processes</a:t>
            </a:r>
            <a:endParaRPr lang="en-US" sz="1100" dirty="0"/>
          </a:p>
        </p:txBody>
      </p:sp>
      <p:sp>
        <p:nvSpPr>
          <p:cNvPr id="19" name="Text 12"/>
          <p:cNvSpPr/>
          <p:nvPr/>
        </p:nvSpPr>
        <p:spPr>
          <a:xfrm>
            <a:off x="1162645" y="5366623"/>
            <a:ext cx="13002697" cy="186095"/>
          </a:xfrm>
          <a:prstGeom prst="rect">
            <a:avLst/>
          </a:prstGeom>
          <a:noFill/>
          <a:ln/>
        </p:spPr>
        <p:txBody>
          <a:bodyPr wrap="non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John approves. The Payment Agent securely processes the $175 transaction, routes to the financial institution, confirms authorization, and updates all downstream systems in milliseconds.</a:t>
            </a:r>
            <a:endParaRPr lang="en-US" sz="900" dirty="0"/>
          </a:p>
        </p:txBody>
      </p:sp>
      <p:pic>
        <p:nvPicPr>
          <p:cNvPr id="20" name="Image 5" descr="preencoded.png"/>
          <p:cNvPicPr>
            <a:picLocks noChangeAspect="1"/>
          </p:cNvPicPr>
          <p:nvPr/>
        </p:nvPicPr>
        <p:blipFill>
          <a:blip r:embed="rId8"/>
          <a:stretch>
            <a:fillRect/>
          </a:stretch>
        </p:blipFill>
        <p:spPr>
          <a:xfrm>
            <a:off x="465058" y="5696664"/>
            <a:ext cx="581382" cy="697587"/>
          </a:xfrm>
          <a:prstGeom prst="rect">
            <a:avLst/>
          </a:prstGeom>
        </p:spPr>
      </p:pic>
      <p:sp>
        <p:nvSpPr>
          <p:cNvPr id="21" name="Text 13"/>
          <p:cNvSpPr/>
          <p:nvPr/>
        </p:nvSpPr>
        <p:spPr>
          <a:xfrm>
            <a:off x="1162645" y="5812869"/>
            <a:ext cx="2089904"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Fulfillment Agent Coordinates</a:t>
            </a:r>
            <a:endParaRPr lang="en-US" sz="1100" dirty="0"/>
          </a:p>
        </p:txBody>
      </p:sp>
      <p:sp>
        <p:nvSpPr>
          <p:cNvPr id="22" name="Text 14"/>
          <p:cNvSpPr/>
          <p:nvPr/>
        </p:nvSpPr>
        <p:spPr>
          <a:xfrm>
            <a:off x="1162645" y="6064210"/>
            <a:ext cx="13002697" cy="186095"/>
          </a:xfrm>
          <a:prstGeom prst="rect">
            <a:avLst/>
          </a:prstGeom>
          <a:noFill/>
          <a:ln/>
        </p:spPr>
        <p:txBody>
          <a:bodyPr wrap="non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Simultaneously, the Fulfillment Agent receives the confirmed order and immediately coordinates: "Your items are ready for pickup at Counter 3. Our associate will have them prepared within 2 minutes with complimentary gift wrapping."</a:t>
            </a:r>
            <a:endParaRPr lang="en-US" sz="900" dirty="0"/>
          </a:p>
        </p:txBody>
      </p:sp>
      <p:pic>
        <p:nvPicPr>
          <p:cNvPr id="23" name="Image 6" descr="preencoded.png"/>
          <p:cNvPicPr>
            <a:picLocks noChangeAspect="1"/>
          </p:cNvPicPr>
          <p:nvPr/>
        </p:nvPicPr>
        <p:blipFill>
          <a:blip r:embed="rId9"/>
          <a:stretch>
            <a:fillRect/>
          </a:stretch>
        </p:blipFill>
        <p:spPr>
          <a:xfrm>
            <a:off x="465058" y="6394252"/>
            <a:ext cx="581382" cy="855940"/>
          </a:xfrm>
          <a:prstGeom prst="rect">
            <a:avLst/>
          </a:prstGeom>
        </p:spPr>
      </p:pic>
      <p:sp>
        <p:nvSpPr>
          <p:cNvPr id="24" name="Text 15"/>
          <p:cNvSpPr/>
          <p:nvPr/>
        </p:nvSpPr>
        <p:spPr>
          <a:xfrm>
            <a:off x="1162645" y="6510457"/>
            <a:ext cx="2067520" cy="181689"/>
          </a:xfrm>
          <a:prstGeom prst="rect">
            <a:avLst/>
          </a:prstGeom>
          <a:noFill/>
          <a:ln/>
        </p:spPr>
        <p:txBody>
          <a:bodyPr wrap="none" lIns="0" tIns="0" rIns="0" bIns="0" rtlCol="0" anchor="t"/>
          <a:lstStyle/>
          <a:p>
            <a:pPr marL="0" indent="0" algn="l">
              <a:lnSpc>
                <a:spcPts val="1400"/>
              </a:lnSpc>
              <a:buNone/>
            </a:pPr>
            <a:r>
              <a:rPr lang="en-US" sz="1100" dirty="0">
                <a:solidFill>
                  <a:srgbClr val="BDA189"/>
                </a:solidFill>
                <a:latin typeface="Prata" pitchFamily="34" charset="0"/>
                <a:ea typeface="Prata" pitchFamily="34" charset="-122"/>
                <a:cs typeface="Prata" pitchFamily="34" charset="-120"/>
              </a:rPr>
              <a:t>Post-Purchase Agent Engages</a:t>
            </a:r>
            <a:endParaRPr lang="en-US" sz="1100" dirty="0"/>
          </a:p>
        </p:txBody>
      </p:sp>
      <p:sp>
        <p:nvSpPr>
          <p:cNvPr id="25" name="Text 16"/>
          <p:cNvSpPr/>
          <p:nvPr/>
        </p:nvSpPr>
        <p:spPr>
          <a:xfrm>
            <a:off x="1162645" y="6761798"/>
            <a:ext cx="13002697" cy="372189"/>
          </a:xfrm>
          <a:prstGeom prst="rect">
            <a:avLst/>
          </a:prstGeom>
          <a:noFill/>
          <a:ln/>
        </p:spPr>
        <p:txBody>
          <a:bodyPr wrap="square" lIns="0" tIns="0" rIns="0" bIns="0" rtlCol="0" anchor="t"/>
          <a:lstStyle/>
          <a:p>
            <a:pPr marL="0" indent="0" algn="l">
              <a:lnSpc>
                <a:spcPts val="1450"/>
              </a:lnSpc>
              <a:buNone/>
            </a:pPr>
            <a:r>
              <a:rPr lang="en-US" sz="900" dirty="0">
                <a:solidFill>
                  <a:srgbClr val="BDA189"/>
                </a:solidFill>
                <a:latin typeface="Manrope" pitchFamily="34" charset="0"/>
                <a:ea typeface="Manrope" pitchFamily="34" charset="-122"/>
                <a:cs typeface="Manrope" pitchFamily="34" charset="-120"/>
              </a:rPr>
              <a:t>The transaction completes, but the relationship continues. The Post-Purchase Agent schedules follow-up communications: sends a digital receipt and care instructions to his phone, invites feedback on his experience, recommends complementary accessories arriving next week, and notes his next loyalty reward milestone.</a:t>
            </a:r>
            <a:endParaRPr lang="en-US" sz="900" dirty="0"/>
          </a:p>
        </p:txBody>
      </p:sp>
      <p:sp>
        <p:nvSpPr>
          <p:cNvPr id="26" name="Text 17"/>
          <p:cNvSpPr/>
          <p:nvPr/>
        </p:nvSpPr>
        <p:spPr>
          <a:xfrm>
            <a:off x="465058" y="7380923"/>
            <a:ext cx="13700284" cy="372189"/>
          </a:xfrm>
          <a:prstGeom prst="rect">
            <a:avLst/>
          </a:prstGeom>
          <a:noFill/>
          <a:ln/>
        </p:spPr>
        <p:txBody>
          <a:bodyPr wrap="square" lIns="0" tIns="0" rIns="0" bIns="0" rtlCol="0" anchor="t"/>
          <a:lstStyle/>
          <a:p>
            <a:pPr marL="0" indent="0" algn="l">
              <a:lnSpc>
                <a:spcPts val="1450"/>
              </a:lnSpc>
              <a:buNone/>
            </a:pPr>
            <a:r>
              <a:rPr lang="en-US" sz="900" b="1" dirty="0">
                <a:solidFill>
                  <a:srgbClr val="151617"/>
                </a:solidFill>
                <a:latin typeface="Manrope" pitchFamily="34" charset="0"/>
                <a:ea typeface="Manrope" pitchFamily="34" charset="-122"/>
                <a:cs typeface="Manrope" pitchFamily="34" charset="-120"/>
              </a:rPr>
              <a:t>Engineering Excellence</a:t>
            </a:r>
            <a:r>
              <a:rPr lang="en-US" sz="900" dirty="0">
                <a:solidFill>
                  <a:srgbClr val="BDA189"/>
                </a:solidFill>
                <a:latin typeface="Manrope" pitchFamily="34" charset="0"/>
                <a:ea typeface="Manrope" pitchFamily="34" charset="-122"/>
                <a:cs typeface="Manrope" pitchFamily="34" charset="-120"/>
              </a:rPr>
              <a:t>: This entire orchestration—seven agents coordinating across recommendation, inventory, loyalty, payment, fulfillment, and engagement systems—completes in under 2 seconds while maintaining conversation naturalness and context continuity.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6A799F6-EB25-71BC-92F6-DB61B6477BCA}"/>
              </a:ext>
            </a:extLst>
          </p:cNvPr>
          <p:cNvSpPr txBox="1"/>
          <p:nvPr/>
        </p:nvSpPr>
        <p:spPr>
          <a:xfrm>
            <a:off x="602166" y="671845"/>
            <a:ext cx="7315200" cy="463332"/>
          </a:xfrm>
          <a:prstGeom prst="rect">
            <a:avLst/>
          </a:prstGeom>
          <a:noFill/>
        </p:spPr>
        <p:txBody>
          <a:bodyPr wrap="square">
            <a:spAutoFit/>
          </a:bodyPr>
          <a:lstStyle/>
          <a:p>
            <a:pPr marL="0" indent="0" algn="l">
              <a:lnSpc>
                <a:spcPts val="2850"/>
              </a:lnSpc>
              <a:buNone/>
            </a:pPr>
            <a:r>
              <a:rPr lang="en-US" sz="2250" dirty="0">
                <a:solidFill>
                  <a:srgbClr val="F2D4BA"/>
                </a:solidFill>
                <a:latin typeface="Prata" pitchFamily="34" charset="0"/>
              </a:rPr>
              <a:t>What’s Next …</a:t>
            </a:r>
            <a:endParaRPr lang="en-US" sz="2250" dirty="0"/>
          </a:p>
        </p:txBody>
      </p:sp>
      <p:sp>
        <p:nvSpPr>
          <p:cNvPr id="5" name="TextBox 4">
            <a:extLst>
              <a:ext uri="{FF2B5EF4-FFF2-40B4-BE49-F238E27FC236}">
                <a16:creationId xmlns:a16="http://schemas.microsoft.com/office/drawing/2014/main" id="{06497E91-7E74-70C6-9CE5-9CF0CD482404}"/>
              </a:ext>
            </a:extLst>
          </p:cNvPr>
          <p:cNvSpPr txBox="1"/>
          <p:nvPr/>
        </p:nvSpPr>
        <p:spPr>
          <a:xfrm>
            <a:off x="713678" y="1538868"/>
            <a:ext cx="10682868" cy="1754326"/>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rgbClr val="FFFFFF"/>
                </a:solidFill>
                <a:latin typeface="Manrope" pitchFamily="34" charset="0"/>
              </a:rPr>
              <a:t>The git hyper-link attached below</a:t>
            </a:r>
            <a:r>
              <a:rPr lang="en-IN" dirty="0">
                <a:solidFill>
                  <a:srgbClr val="FFFFFF"/>
                </a:solidFill>
                <a:latin typeface="Manrope" pitchFamily="34" charset="0"/>
              </a:rPr>
              <a:t> gives the future plans for the project and as well as the structure we will be using.</a:t>
            </a:r>
          </a:p>
          <a:p>
            <a:endParaRPr lang="en-IN" dirty="0">
              <a:solidFill>
                <a:srgbClr val="FFFFFF"/>
              </a:solidFill>
              <a:latin typeface="Manrope" pitchFamily="34" charset="0"/>
            </a:endParaRPr>
          </a:p>
          <a:p>
            <a:pPr marL="285750" indent="-285750">
              <a:buFont typeface="Arial" panose="020B0604020202020204" pitchFamily="34" charset="0"/>
              <a:buChar char="•"/>
            </a:pPr>
            <a:r>
              <a:rPr lang="en-IN" b="1" dirty="0">
                <a:solidFill>
                  <a:srgbClr val="FFFFFF"/>
                </a:solidFill>
                <a:latin typeface="Manrope" pitchFamily="34" charset="0"/>
                <a:hlinkClick r:id="rId2"/>
              </a:rPr>
              <a:t>Seamless Git Hub Repository for future plans</a:t>
            </a:r>
            <a:endParaRPr lang="en-IN" b="1" dirty="0">
              <a:solidFill>
                <a:srgbClr val="FFFFFF"/>
              </a:solidFill>
              <a:latin typeface="Manrope" pitchFamily="34" charset="0"/>
            </a:endParaRPr>
          </a:p>
          <a:p>
            <a:pPr marL="285750" indent="-285750">
              <a:buFont typeface="Arial" panose="020B0604020202020204" pitchFamily="34" charset="0"/>
              <a:buChar char="•"/>
            </a:pPr>
            <a:endParaRPr lang="en-IN" dirty="0">
              <a:solidFill>
                <a:srgbClr val="FFFFFF"/>
              </a:solidFill>
              <a:latin typeface="Manrope" pitchFamily="34" charset="0"/>
            </a:endParaRPr>
          </a:p>
          <a:p>
            <a:endParaRPr lang="en-US" dirty="0">
              <a:solidFill>
                <a:srgbClr val="FFFFFF"/>
              </a:solidFill>
              <a:latin typeface="Manrope" pitchFamily="34" charset="0"/>
            </a:endParaRPr>
          </a:p>
        </p:txBody>
      </p:sp>
    </p:spTree>
    <p:extLst>
      <p:ext uri="{BB962C8B-B14F-4D97-AF65-F5344CB8AC3E}">
        <p14:creationId xmlns:p14="http://schemas.microsoft.com/office/powerpoint/2010/main" val="33571945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1294</Words>
  <Application>Microsoft Office PowerPoint</Application>
  <PresentationFormat>Custom</PresentationFormat>
  <Paragraphs>57</Paragraphs>
  <Slides>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Manrope</vt:lpstr>
      <vt:lpstr>Prata Light</vt:lpstr>
      <vt:lpstr>Prata</vt:lpstr>
      <vt:lpstr>Arial</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Daksh Sharma</dc:creator>
  <cp:lastModifiedBy>Daksh Sharma</cp:lastModifiedBy>
  <cp:revision>3</cp:revision>
  <dcterms:created xsi:type="dcterms:W3CDTF">2025-10-19T16:36:16Z</dcterms:created>
  <dcterms:modified xsi:type="dcterms:W3CDTF">2025-11-09T11:01:11Z</dcterms:modified>
</cp:coreProperties>
</file>